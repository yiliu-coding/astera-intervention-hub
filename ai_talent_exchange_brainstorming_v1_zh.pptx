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12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8E8E4-040A-4875-A04B-8F8295D54084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517AB5-3A82-43F6-8F8C-EA342F7E1B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301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639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306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184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470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60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324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380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626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F50AB-80CE-4B63-A5BB-49C53A833D9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118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492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BB3E6-7E69-87AC-851F-2D66B44C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5FD1E-BD35-97F1-4883-71FC8C6CD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28860-9234-DD6C-98C2-3BF48F54C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42A55-D36A-EDBC-F3BF-9A452033E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F50AB-80CE-4B63-A5BB-49C53A833D9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461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910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78FF"/>
          </a:solidFill>
          <a:ln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548640" cy="548640"/>
          </a:xfrm>
          <a:prstGeom prst="ellipse">
            <a:avLst/>
          </a:prstGeom>
          <a:solidFill>
            <a:srgbClr val="4078FF"/>
          </a:solidFill>
          <a:ln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658368"/>
            <a:ext cx="23743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dirty="0">
                <a:latin typeface="Microsoft YaHei"/>
              </a:rPr>
              <a:t>AI MissionHub Labs</a:t>
            </a:r>
            <a:endParaRPr dirty="0"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6019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Microsoft YaHei"/>
              </a:rPr>
              <a:t>面向技术解决者与中小企业的</a:t>
            </a:r>
            <a:r>
              <a:rPr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Microsoft YaHei"/>
              </a:rPr>
              <a:t> AI </a:t>
            </a:r>
            <a:r>
              <a:rPr sz="20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Microsoft YaHei"/>
              </a:rPr>
              <a:t>精准技术干预平台</a:t>
            </a:r>
            <a:r>
              <a:rPr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Microsoft Ya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029557"/>
            <a:ext cx="5852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 err="1">
                <a:solidFill>
                  <a:schemeClr val="accent5"/>
                </a:solidFill>
                <a:latin typeface="Microsoft YaHei"/>
              </a:rPr>
              <a:t>将模糊的业务痛点转化为结构化技术里程碑，匹配经过验证的专家，并通过托管支付与</a:t>
            </a:r>
            <a:r>
              <a:rPr dirty="0">
                <a:solidFill>
                  <a:schemeClr val="accent5"/>
                </a:solidFill>
                <a:latin typeface="Microsoft YaHei"/>
              </a:rPr>
              <a:t> AI </a:t>
            </a:r>
            <a:r>
              <a:rPr dirty="0" err="1">
                <a:solidFill>
                  <a:schemeClr val="accent5"/>
                </a:solidFill>
                <a:latin typeface="Microsoft YaHei"/>
              </a:rPr>
              <a:t>信任机制保障交付</a:t>
            </a:r>
            <a:r>
              <a:rPr dirty="0">
                <a:solidFill>
                  <a:schemeClr val="accent5"/>
                </a:solidFill>
                <a:latin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2103120" cy="674370"/>
          </a:xfrm>
          <a:prstGeom prst="roundRect">
            <a:avLst/>
          </a:prstGeom>
          <a:solidFill>
            <a:srgbClr val="4078FF"/>
          </a:solidFill>
          <a:ln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5167" y="4443984"/>
            <a:ext cx="17443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>
                <a:latin typeface="Microsoft YaHei"/>
              </a:rPr>
              <a:t>我需要解决方案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4297680"/>
            <a:ext cx="2286000" cy="674370"/>
          </a:xfrm>
          <a:prstGeom prst="roundRect">
            <a:avLst/>
          </a:prstGeom>
          <a:solidFill>
            <a:srgbClr val="14263A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22798" y="4443984"/>
            <a:ext cx="19668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>
                <a:latin typeface="Microsoft YaHei"/>
              </a:rPr>
              <a:t>我提供解决方案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097280"/>
            <a:ext cx="4023360" cy="4389120"/>
          </a:xfrm>
          <a:prstGeom prst="rect">
            <a:avLst/>
          </a:prstGeom>
          <a:solidFill>
            <a:srgbClr val="121C2C"/>
          </a:solidFill>
          <a:ln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69680" y="2377440"/>
            <a:ext cx="1024128" cy="1024128"/>
          </a:xfrm>
          <a:prstGeom prst="ellipse">
            <a:avLst/>
          </a:prstGeom>
          <a:solidFill>
            <a:srgbClr val="4078FF"/>
          </a:solidFill>
          <a:ln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46720" y="3383280"/>
            <a:ext cx="585216" cy="585216"/>
          </a:xfrm>
          <a:prstGeom prst="ellipse">
            <a:avLst/>
          </a:prstGeom>
          <a:solidFill>
            <a:srgbClr val="28C580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92640" y="3383280"/>
            <a:ext cx="585216" cy="585216"/>
          </a:xfrm>
          <a:prstGeom prst="ellipse">
            <a:avLst/>
          </a:prstGeom>
          <a:solidFill>
            <a:srgbClr val="5ED8FF"/>
          </a:solidFill>
          <a:ln>
            <a:solidFill>
              <a:srgbClr val="5E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869680" y="4663440"/>
            <a:ext cx="914400" cy="914400"/>
          </a:xfrm>
          <a:prstGeom prst="ellipse">
            <a:avLst/>
          </a:prstGeom>
          <a:solidFill>
            <a:srgbClr val="FFC653"/>
          </a:solidFill>
          <a:ln>
            <a:solidFill>
              <a:srgbClr val="FF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81360" y="2194560"/>
            <a:ext cx="640080" cy="640080"/>
          </a:xfrm>
          <a:prstGeom prst="ellipse">
            <a:avLst/>
          </a:prstGeom>
          <a:solidFill>
            <a:srgbClr val="28C580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881360" y="4114800"/>
            <a:ext cx="640080" cy="640080"/>
          </a:xfrm>
          <a:prstGeom prst="ellipse">
            <a:avLst/>
          </a:prstGeom>
          <a:solidFill>
            <a:srgbClr val="4078FF"/>
          </a:solidFill>
          <a:ln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78240" y="2286000"/>
            <a:ext cx="365760" cy="411480"/>
          </a:xfrm>
          <a:prstGeom prst="rect">
            <a:avLst/>
          </a:prstGeom>
          <a:solidFill>
            <a:srgbClr val="5ED8FF"/>
          </a:solidFill>
          <a:ln>
            <a:solidFill>
              <a:srgbClr val="5E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2926080"/>
            <a:ext cx="320040" cy="320040"/>
          </a:xfrm>
          <a:prstGeom prst="rect">
            <a:avLst/>
          </a:prstGeom>
          <a:solidFill>
            <a:srgbClr val="5ED8FF"/>
          </a:solidFill>
          <a:ln>
            <a:solidFill>
              <a:srgbClr val="5E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3154680"/>
            <a:ext cx="411480" cy="201168"/>
          </a:xfrm>
          <a:prstGeom prst="rect">
            <a:avLst/>
          </a:prstGeom>
          <a:solidFill>
            <a:srgbClr val="5ED8FF"/>
          </a:solidFill>
          <a:ln>
            <a:solidFill>
              <a:srgbClr val="5E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01200" y="3154680"/>
            <a:ext cx="457200" cy="201168"/>
          </a:xfrm>
          <a:prstGeom prst="rect">
            <a:avLst/>
          </a:prstGeom>
          <a:solidFill>
            <a:srgbClr val="5ED8FF"/>
          </a:solidFill>
          <a:ln>
            <a:solidFill>
              <a:srgbClr val="5E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69680" y="4389120"/>
            <a:ext cx="411480" cy="274320"/>
          </a:xfrm>
          <a:prstGeom prst="rect">
            <a:avLst/>
          </a:prstGeom>
          <a:solidFill>
            <a:srgbClr val="5ED8FF"/>
          </a:solidFill>
          <a:ln>
            <a:solidFill>
              <a:srgbClr val="5E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03187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 err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为什么这不是普通的自由职业平台</a:t>
            </a:r>
            <a:endParaRPr sz="2000"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dirty="0" err="1">
                <a:latin typeface="Microsoft YaHei"/>
              </a:rPr>
              <a:t>平台定位为精准的技术干预中心</a:t>
            </a:r>
            <a:r>
              <a:rPr dirty="0">
                <a:latin typeface="Microsoft YaHei"/>
              </a:rPr>
              <a:t>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19"/>
            <a:ext cx="3474720" cy="2899411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市场空白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315090"/>
            <a:ext cx="3185160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中小企业需要紧急且专业的技术修复，而不是泛化招聘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技术供应商需要结构化、高信任度的项目，而不是嘈杂的零工竞争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现有市场供给很多，但精准度不足</a:t>
            </a:r>
            <a:r>
              <a:rPr sz="1500" dirty="0">
                <a:latin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45919"/>
            <a:ext cx="3474720" cy="2899411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60" y="1755648"/>
            <a:ext cx="13388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平台切入点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09160" y="2315090"/>
            <a:ext cx="318516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>
                <a:latin typeface="Microsoft YaHei"/>
              </a:rPr>
              <a:t>通过 AI 翻译将模糊痛点转化为明确的项目里程碑。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>
                <a:latin typeface="Microsoft YaHei"/>
              </a:rPr>
              <a:t>利用公开信号和项目证据验证供应商能力。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>
                <a:latin typeface="Microsoft YaHei"/>
              </a:rPr>
              <a:t>通过信任与托管架构保障项目执行。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645919"/>
            <a:ext cx="3017520" cy="2899411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FF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175564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战略优势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49640" y="2315090"/>
            <a:ext cx="2702560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>
                <a:latin typeface="Microsoft YaHei"/>
              </a:rPr>
              <a:t>专业化收入引擎，而不是同质化交易市场。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>
                <a:latin typeface="Microsoft YaHei"/>
              </a:rPr>
              <a:t>通过弹性团队与精选需求建立更高利润的服务层。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49299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 err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商业模式与收入引擎</a:t>
            </a:r>
            <a:endParaRPr sz="2000"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>
                <a:latin typeface="Microsoft YaHei"/>
              </a:rPr>
              <a:t>变现应来自信任、匹配质量与流程控制。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383280" cy="297942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55648"/>
            <a:ext cx="13388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需求侧收入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2218454"/>
            <a:ext cx="294894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按成功匹配的干预项目收取服务费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高级</a:t>
            </a:r>
            <a:r>
              <a:rPr sz="1500" dirty="0">
                <a:latin typeface="Microsoft YaHei"/>
              </a:rPr>
              <a:t> AI </a:t>
            </a:r>
            <a:r>
              <a:rPr sz="1500" dirty="0" err="1">
                <a:latin typeface="Microsoft YaHei"/>
              </a:rPr>
              <a:t>范围界定与技术翻译方案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托管支付服务费与顾问增值费</a:t>
            </a:r>
            <a:r>
              <a:rPr sz="1500" dirty="0">
                <a:latin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383280" cy="297942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755648"/>
            <a:ext cx="13388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供应侧收入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2218454"/>
            <a:ext cx="294894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>
                <a:latin typeface="Microsoft YaHei"/>
              </a:rPr>
              <a:t>能力证明验证与信誉会员服务。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>
                <a:latin typeface="Microsoft YaHei"/>
              </a:rPr>
              <a:t>提升曝光度并获得主动项目机会的订阅服务。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>
                <a:latin typeface="Microsoft YaHei"/>
              </a:rPr>
              <a:t>托管小队与弹性团队项目的收入分成。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297942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FF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75564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平台杠杆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75320" y="2218454"/>
            <a:ext cx="294894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>
                <a:latin typeface="Microsoft YaHei"/>
              </a:rPr>
              <a:t>利用 AI 为服务不足的中小企业细分市场主动创造需求。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>
                <a:latin typeface="Microsoft YaHei"/>
              </a:rPr>
              <a:t>当需求超过供应能力时，采用伞形代理与团队编排模式。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>
                <a:latin typeface="Microsoft YaHei"/>
              </a:rPr>
              <a:t>通过反复的问题到解决方案闭环形成数据网络效应。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49353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 err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双边旅程</a:t>
            </a:r>
            <a:r>
              <a:rPr dirty="0" err="1">
                <a:latin typeface="Microsoft YaHei"/>
              </a:rPr>
              <a:t>：</a:t>
            </a:r>
            <a:r>
              <a:rPr sz="2000" b="1" dirty="0" err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一套信任层</a:t>
            </a:r>
            <a:r>
              <a:rPr dirty="0" err="1">
                <a:latin typeface="Microsoft YaHei"/>
              </a:rPr>
              <a:t>，</a:t>
            </a:r>
            <a:r>
              <a:rPr sz="2000" b="1" dirty="0" err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两种定制体验</a:t>
            </a:r>
            <a:endParaRPr sz="2000"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>
                <a:latin typeface="Microsoft YaHei"/>
              </a:rPr>
              <a:t>需求方需要清晰度与隐私；供应方需要证明、信号与高质量机会。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323469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203773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需求方</a:t>
            </a:r>
            <a:r>
              <a:rPr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 / </a:t>
            </a:r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企业流程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" y="2272113"/>
            <a:ext cx="485013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用日常语言描述业务痛点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>
                <a:latin typeface="Microsoft YaHei"/>
              </a:rPr>
              <a:t>AI </a:t>
            </a:r>
            <a:r>
              <a:rPr sz="1500" dirty="0" err="1">
                <a:latin typeface="Microsoft YaHei"/>
              </a:rPr>
              <a:t>技术翻译器明确范围，并将敏感细节匿名化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查看匹配供应商、项目里程碑、预算与交付风险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启动智能托管，并在结果可验证后释放款项</a:t>
            </a:r>
            <a:r>
              <a:rPr sz="1500" dirty="0">
                <a:latin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303520" cy="323469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664208"/>
            <a:ext cx="22685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供应方</a:t>
            </a:r>
            <a:r>
              <a:rPr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 / </a:t>
            </a:r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解决者流程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2272113"/>
            <a:ext cx="485013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连接公开证明材料：简历、LinkedIn、GitHub、YouTube</a:t>
            </a:r>
            <a:r>
              <a:rPr sz="1500" dirty="0">
                <a:latin typeface="Microsoft YaHei"/>
              </a:rPr>
              <a:t> </a:t>
            </a:r>
            <a:r>
              <a:rPr sz="1500" dirty="0" err="1">
                <a:latin typeface="Microsoft YaHei"/>
              </a:rPr>
              <a:t>或项目页面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>
                <a:latin typeface="Microsoft YaHei"/>
              </a:rPr>
              <a:t>AI </a:t>
            </a:r>
            <a:r>
              <a:rPr sz="1500" dirty="0" err="1">
                <a:latin typeface="Microsoft YaHei"/>
              </a:rPr>
              <a:t>生成能力档案，整理技术栈并验证相关信号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接收结构化需求，并申请高匹配度的技术干预项目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指出公开的潜在漏洞，并获得有资金支持的预防性赏金</a:t>
            </a:r>
            <a:r>
              <a:rPr sz="1500" dirty="0">
                <a:latin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103974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Microsoft YaHei"/>
              </a:rPr>
              <a:t>共享信任层连接两条旅程：隐私安全的需求简报、经过验证的能力、里程碑证据、托管支付与多维信誉。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74947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 err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产品真正销售的是什么</a:t>
            </a:r>
            <a:endParaRPr sz="2000"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>
                <a:latin typeface="Microsoft YaHei"/>
              </a:rPr>
              <a:t>它不是一个市场，而是一个可信的技术执行层。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566160" cy="292989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64208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面向中小企业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2171352"/>
            <a:ext cx="31089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无需招聘全职技术团队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更快完成问题诊断与范围界定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通过托管支付保护项目执行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更有信心地采纳技术建议</a:t>
            </a:r>
            <a:r>
              <a:rPr sz="1500" dirty="0">
                <a:latin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54480"/>
            <a:ext cx="3566160" cy="292989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664208"/>
            <a:ext cx="18004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面向技术解决者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63440" y="2171352"/>
            <a:ext cx="310896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以经过验证的能力取代泛化的个人资料噪音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获得更高质量的项目匹配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更快接触有预算且结构清晰的工作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通过项目小队获得更大规模的持续收入</a:t>
            </a:r>
            <a:r>
              <a:rPr sz="1500" dirty="0">
                <a:latin typeface="Microsoft YaHei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017520" cy="292989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FF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66420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平台承诺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66760" y="2171352"/>
            <a:ext cx="2468880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以结果为导向的技术干预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信任机制与</a:t>
            </a:r>
            <a:r>
              <a:rPr sz="1500" dirty="0">
                <a:latin typeface="Microsoft YaHei"/>
              </a:rPr>
              <a:t> AI </a:t>
            </a:r>
            <a:r>
              <a:rPr sz="1500" dirty="0" err="1">
                <a:latin typeface="Microsoft YaHei"/>
              </a:rPr>
              <a:t>协同工作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可规模化的专业交付</a:t>
            </a:r>
            <a:r>
              <a:rPr sz="1500" dirty="0"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54483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逻辑检查：概念的优势与需要加强之处</a:t>
            </a:r>
            <a:endParaRPr sz="2000"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>
                <a:latin typeface="Microsoft YaHei"/>
              </a:rPr>
              <a:t>这个想法很有吸引力，但几项战略选择需要更清晰的定位。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38328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优势所在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" y="2296388"/>
            <a:ext cx="472059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>
                <a:latin typeface="Microsoft YaHei"/>
              </a:rPr>
              <a:t>AI </a:t>
            </a:r>
            <a:r>
              <a:rPr sz="1500" dirty="0" err="1">
                <a:latin typeface="Microsoft YaHei"/>
              </a:rPr>
              <a:t>驱动的范围界定与翻译降低了非技术买家的不确定性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能力证明相较普通零工平台能提升信任与供应商质量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托管支付与信誉体系为双方建立实际的运营信心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弹性团队与预防性提案让平台能够超越简单匹配实现规模化</a:t>
            </a:r>
            <a:r>
              <a:rPr sz="1500" dirty="0">
                <a:latin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212080" cy="338328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FF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755648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需要改进之处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55079" y="2296388"/>
            <a:ext cx="490941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清晰定义第一个垂直领域，例如网页性能、电商可靠性或安全修复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不要过度强调通用</a:t>
            </a:r>
            <a:r>
              <a:rPr sz="1500" dirty="0">
                <a:latin typeface="Microsoft YaHei"/>
              </a:rPr>
              <a:t> </a:t>
            </a:r>
            <a:r>
              <a:rPr sz="1500" dirty="0" err="1">
                <a:latin typeface="Microsoft YaHei"/>
              </a:rPr>
              <a:t>AI，应先在</a:t>
            </a:r>
            <a:r>
              <a:rPr sz="1500" dirty="0">
                <a:latin typeface="Microsoft YaHei"/>
              </a:rPr>
              <a:t> 90 </a:t>
            </a:r>
            <a:r>
              <a:rPr sz="1500" dirty="0" err="1">
                <a:latin typeface="Microsoft YaHei"/>
              </a:rPr>
              <a:t>天内证明真实用户价值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将信任保证金设计为质量筛选机制，而不只是费用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通过结合公开信号分析与已验证材料，避免能力档案生成中的误判</a:t>
            </a:r>
            <a:r>
              <a:rPr sz="1500" dirty="0"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2226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UX</a:t>
            </a:r>
            <a:r>
              <a:rPr dirty="0">
                <a:latin typeface="Microsoft YaHei"/>
              </a:rPr>
              <a:t> </a:t>
            </a:r>
            <a:r>
              <a:rPr sz="2000" b="1" dirty="0" err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基础：基于角色的网页平台策略</a:t>
            </a:r>
            <a:endParaRPr sz="2000"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>
                <a:latin typeface="Microsoft YaHei"/>
              </a:rPr>
              <a:t>落地页将用户引导至独立的需求方与供应方工作区。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937760" cy="3749039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18004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基于角色的入口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52401"/>
            <a:ext cx="462153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首屏：清晰定位为精准技术干预中心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需求页面：AI</a:t>
            </a:r>
            <a:r>
              <a:rPr sz="1500" dirty="0">
                <a:latin typeface="Microsoft YaHei"/>
              </a:rPr>
              <a:t> </a:t>
            </a:r>
            <a:r>
              <a:rPr sz="1500" dirty="0" err="1">
                <a:latin typeface="Microsoft YaHei"/>
              </a:rPr>
              <a:t>简报翻译、隐私审查、匹配与托管支付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供应页面：公开证明材料导入、能力档案、项目机会与赏金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共享导航保持市场结构清晰，同时区分两类用户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在每个转化步骤中都展示信任信息</a:t>
            </a:r>
            <a:r>
              <a:rPr sz="1500" dirty="0">
                <a:latin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5394960" cy="3749039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1755648"/>
            <a:ext cx="110254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网页流程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55080" y="2362200"/>
            <a:ext cx="1325880" cy="868680"/>
          </a:xfrm>
          <a:prstGeom prst="roundRect">
            <a:avLst/>
          </a:prstGeom>
          <a:solidFill>
            <a:srgbClr val="162034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6728755" y="2545080"/>
            <a:ext cx="56938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dirty="0" err="1">
                <a:latin typeface="Microsoft YaHei"/>
              </a:rPr>
              <a:t>首页</a:t>
            </a:r>
            <a:endParaRPr sz="1500" dirty="0">
              <a:latin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09560" y="2362200"/>
            <a:ext cx="1325880" cy="868680"/>
          </a:xfrm>
          <a:prstGeom prst="roundRect">
            <a:avLst/>
          </a:prstGeom>
          <a:solidFill>
            <a:srgbClr val="162034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8283235" y="2545080"/>
            <a:ext cx="56938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dirty="0" err="1">
                <a:latin typeface="Microsoft YaHei"/>
              </a:rPr>
              <a:t>需求</a:t>
            </a:r>
            <a:endParaRPr sz="1500" dirty="0">
              <a:latin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464040" y="2362200"/>
            <a:ext cx="1325880" cy="868680"/>
          </a:xfrm>
          <a:prstGeom prst="roundRect">
            <a:avLst/>
          </a:prstGeom>
          <a:solidFill>
            <a:srgbClr val="162034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9521122" y="2545080"/>
            <a:ext cx="120257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dirty="0">
                <a:latin typeface="Microsoft YaHei"/>
              </a:rPr>
              <a:t>AI </a:t>
            </a:r>
            <a:r>
              <a:rPr sz="1500" dirty="0" err="1">
                <a:latin typeface="Microsoft YaHei"/>
              </a:rPr>
              <a:t>范围界定</a:t>
            </a:r>
            <a:endParaRPr sz="1500" dirty="0">
              <a:latin typeface="Microsoft YaHe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55080" y="3550920"/>
            <a:ext cx="1325880" cy="868680"/>
          </a:xfrm>
          <a:prstGeom prst="roundRect">
            <a:avLst/>
          </a:prstGeom>
          <a:solidFill>
            <a:srgbClr val="162034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6632575" y="3733800"/>
            <a:ext cx="76174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dirty="0" err="1">
                <a:latin typeface="Microsoft YaHei"/>
              </a:rPr>
              <a:t>供应方</a:t>
            </a:r>
            <a:endParaRPr sz="1500" dirty="0">
              <a:latin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09560" y="3550920"/>
            <a:ext cx="1325880" cy="868680"/>
          </a:xfrm>
          <a:prstGeom prst="roundRect">
            <a:avLst/>
          </a:prstGeom>
          <a:solidFill>
            <a:srgbClr val="162034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8090875" y="3733800"/>
            <a:ext cx="95410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dirty="0" err="1">
                <a:latin typeface="Microsoft YaHei"/>
              </a:rPr>
              <a:t>能力证明</a:t>
            </a:r>
            <a:endParaRPr sz="1500" dirty="0">
              <a:latin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464040" y="3550920"/>
            <a:ext cx="1325880" cy="868680"/>
          </a:xfrm>
          <a:prstGeom prst="roundRect">
            <a:avLst/>
          </a:prstGeom>
          <a:solidFill>
            <a:srgbClr val="162034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9516313" y="3733800"/>
            <a:ext cx="121219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dirty="0" err="1">
                <a:latin typeface="Microsoft YaHei"/>
              </a:rPr>
              <a:t>匹配</a:t>
            </a:r>
            <a:r>
              <a:rPr sz="1500" dirty="0">
                <a:latin typeface="Microsoft YaHei"/>
              </a:rPr>
              <a:t> + </a:t>
            </a:r>
            <a:r>
              <a:rPr sz="1500" dirty="0" err="1">
                <a:latin typeface="Microsoft YaHei"/>
              </a:rPr>
              <a:t>托管</a:t>
            </a:r>
            <a:endParaRPr sz="1500" dirty="0">
              <a:latin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72354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 err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网页平台架构</a:t>
            </a:r>
            <a:endParaRPr sz="2000"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>
                <a:latin typeface="Microsoft YaHei"/>
              </a:rPr>
              <a:t>独立的角色体验建立在共享的 AI、信任与流动性服务之上。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323088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角色体验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19" y="2160266"/>
            <a:ext cx="295929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需求工作区：收集问题并创建受保护的需求简报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供应工作区：发现能力机会与项目机会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使用</a:t>
            </a:r>
            <a:r>
              <a:rPr sz="1500" dirty="0">
                <a:latin typeface="Microsoft YaHei"/>
              </a:rPr>
              <a:t> React + Tailwind + Framer Motion </a:t>
            </a:r>
            <a:r>
              <a:rPr sz="1500" dirty="0" err="1">
                <a:latin typeface="Microsoft YaHei"/>
              </a:rPr>
              <a:t>构建响应式产品界面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共享设计语言，同时根据角色调整信息密度</a:t>
            </a:r>
            <a:r>
              <a:rPr sz="1500" dirty="0">
                <a:latin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323088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55648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共享平台服务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720" y="2160266"/>
            <a:ext cx="3054754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用于匹配的问题与能力索引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>
                <a:latin typeface="Microsoft YaHei"/>
              </a:rPr>
              <a:t>Vipps </a:t>
            </a:r>
            <a:r>
              <a:rPr sz="1500" dirty="0" err="1">
                <a:latin typeface="Microsoft YaHei"/>
              </a:rPr>
              <a:t>身份验证以及</a:t>
            </a:r>
            <a:r>
              <a:rPr sz="1500" dirty="0">
                <a:latin typeface="Microsoft YaHei"/>
              </a:rPr>
              <a:t> ENK / AS </a:t>
            </a:r>
            <a:r>
              <a:rPr sz="1500" dirty="0" err="1">
                <a:latin typeface="Microsoft YaHei"/>
              </a:rPr>
              <a:t>企业实体验证状态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里程碑托管支付生命周期管理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证据、信誉、主动联络审查与流动性编排</a:t>
            </a:r>
            <a:r>
              <a:rPr sz="1500" dirty="0">
                <a:latin typeface="Microsoft YaHei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91840" cy="323088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FF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755648"/>
            <a:ext cx="14157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AI</a:t>
            </a:r>
            <a:r>
              <a:rPr dirty="0">
                <a:latin typeface="Microsoft YaHei"/>
              </a:rPr>
              <a:t> </a:t>
            </a:r>
            <a:r>
              <a:rPr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+</a:t>
            </a:r>
            <a:r>
              <a:rPr dirty="0">
                <a:latin typeface="Microsoft YaHei"/>
              </a:rPr>
              <a:t> </a:t>
            </a:r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安全层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66759" y="2160266"/>
            <a:ext cx="295929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智能代理范围界定、匿名化与澄清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将公开信号解析为能力档案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加密专有数据并实施受控披露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预测性漏洞检测与限速安全披露</a:t>
            </a:r>
            <a:r>
              <a:rPr sz="1500" dirty="0"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74947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信任与预防：运营模型</a:t>
            </a:r>
            <a:endParaRPr sz="2000"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>
                <a:latin typeface="Microsoft YaHei"/>
              </a:rPr>
              <a:t>Astera 在匹配前、交付中以及公开问题演变为可避免的事故前降低风险。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22453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159851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1. </a:t>
            </a:r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验证参与者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" y="2223998"/>
            <a:ext cx="32461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个人：通过</a:t>
            </a:r>
            <a:r>
              <a:rPr sz="1500" dirty="0">
                <a:latin typeface="Microsoft YaHei"/>
              </a:rPr>
              <a:t> Vipps </a:t>
            </a:r>
            <a:r>
              <a:rPr sz="1500" dirty="0" err="1">
                <a:latin typeface="Microsoft YaHei"/>
              </a:rPr>
              <a:t>验证真实姓名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ENK：验证经营者与组织编号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AS：验证授权人员与公司身份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展示验证状态，而不是不必要的身份数据</a:t>
            </a:r>
            <a:r>
              <a:rPr sz="1500" dirty="0">
                <a:latin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74720" cy="322453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55648"/>
            <a:ext cx="187307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2. </a:t>
            </a:r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证明工作成果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720" y="2223998"/>
            <a:ext cx="31851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在资金锁定前定义验收证据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展示里程碑状态：已锁定、审核中或已释放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分别评估速度、可靠性与质量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在每次交接时让双方保持知情</a:t>
            </a:r>
            <a:r>
              <a:rPr sz="1500" dirty="0">
                <a:latin typeface="Microsoft YaHei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74720" cy="322453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FF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755648"/>
            <a:ext cx="182934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3. </a:t>
            </a:r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预防事故发生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75320" y="2223998"/>
            <a:ext cx="318516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供应商利用公开信号标记客户可能存在的风险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>
                <a:latin typeface="Microsoft YaHei"/>
              </a:rPr>
              <a:t>AI </a:t>
            </a:r>
            <a:r>
              <a:rPr sz="1500" dirty="0" err="1">
                <a:latin typeface="Microsoft YaHei"/>
              </a:rPr>
              <a:t>起草范围明确、尊重客户且不过度制造恐慌的信息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>
                <a:latin typeface="Microsoft YaHei"/>
              </a:rPr>
              <a:t>Astera </a:t>
            </a:r>
            <a:r>
              <a:rPr sz="1500" dirty="0" err="1">
                <a:latin typeface="Microsoft YaHei"/>
              </a:rPr>
              <a:t>审查并限制主动联络频率</a:t>
            </a:r>
            <a:r>
              <a:rPr sz="15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Microsoft YaHei"/>
              </a:rPr>
              <a:t>被接受的风险信号转化为有资金支持的诊断或赏金项目</a:t>
            </a:r>
            <a:r>
              <a:rPr sz="1500" dirty="0">
                <a:latin typeface="Microsoft YaHei"/>
              </a:rPr>
              <a:t>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64660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MVP </a:t>
            </a:r>
            <a:r>
              <a:rPr sz="2000" b="1" dirty="0" err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路线图</a:t>
            </a:r>
            <a:endParaRPr sz="2000"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>
                <a:latin typeface="Microsoft YaHei"/>
              </a:rPr>
              <a:t>从基于角色的信任流程开始，再扩展到预测性流动性管理。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BA1EE88-9F02-4851-EB4F-992310FEC652}"/>
              </a:ext>
            </a:extLst>
          </p:cNvPr>
          <p:cNvGrpSpPr/>
          <p:nvPr/>
        </p:nvGrpSpPr>
        <p:grpSpPr>
          <a:xfrm>
            <a:off x="727368" y="1828800"/>
            <a:ext cx="2401087" cy="1828800"/>
            <a:chOff x="822959" y="1828800"/>
            <a:chExt cx="2547851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822959" y="1828800"/>
              <a:ext cx="2547851" cy="1828800"/>
            </a:xfrm>
            <a:prstGeom prst="roundRect">
              <a:avLst/>
            </a:prstGeom>
            <a:solidFill>
              <a:srgbClr val="162034"/>
            </a:solidFill>
            <a:ln w="15240">
              <a:solidFill>
                <a:srgbClr val="4078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/>
            <p:cNvSpPr/>
            <p:nvPr/>
          </p:nvSpPr>
          <p:spPr>
            <a:xfrm>
              <a:off x="960120" y="2423160"/>
              <a:ext cx="2254568" cy="164592"/>
            </a:xfrm>
            <a:prstGeom prst="rect">
              <a:avLst/>
            </a:prstGeom>
            <a:solidFill>
              <a:srgbClr val="4078FF"/>
            </a:solidFill>
            <a:ln>
              <a:solidFill>
                <a:srgbClr val="4078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60120" y="1993392"/>
              <a:ext cx="210312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400" b="1">
                  <a:solidFill>
                    <a:srgbClr val="FFFFFF"/>
                  </a:solidFill>
                </a:rPr>
                <a:t>25%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60120" y="2651760"/>
              <a:ext cx="1400225" cy="6514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sz="1400" b="1" dirty="0" err="1">
                  <a:latin typeface="Microsoft YaHei"/>
                </a:rPr>
                <a:t>阶段</a:t>
              </a:r>
              <a:r>
                <a:rPr sz="1400" b="1" dirty="0">
                  <a:latin typeface="Microsoft YaHei"/>
                </a:rPr>
                <a:t> 1：</a:t>
              </a:r>
              <a:endParaRPr lang="nb-NO" sz="1400" b="1" dirty="0">
                <a:latin typeface="Microsoft YaHei"/>
              </a:endParaRPr>
            </a:p>
            <a:p>
              <a:pPr>
                <a:spcAft>
                  <a:spcPts val="1000"/>
                </a:spcAft>
              </a:pPr>
              <a:r>
                <a:rPr sz="1400" dirty="0" err="1">
                  <a:latin typeface="Microsoft YaHei"/>
                </a:rPr>
                <a:t>需求页</a:t>
              </a:r>
              <a:r>
                <a:rPr sz="1400" dirty="0">
                  <a:latin typeface="Microsoft YaHei"/>
                </a:rPr>
                <a:t> + </a:t>
              </a:r>
              <a:r>
                <a:rPr sz="1400" dirty="0" err="1">
                  <a:latin typeface="Microsoft YaHei"/>
                </a:rPr>
                <a:t>供应页</a:t>
              </a:r>
              <a:endParaRPr sz="1400" dirty="0">
                <a:latin typeface="Microsoft YaHei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D82B640-E803-6E39-22AF-37750D58B9A8}"/>
              </a:ext>
            </a:extLst>
          </p:cNvPr>
          <p:cNvGrpSpPr/>
          <p:nvPr/>
        </p:nvGrpSpPr>
        <p:grpSpPr>
          <a:xfrm>
            <a:off x="3463640" y="1828800"/>
            <a:ext cx="2401087" cy="1828800"/>
            <a:chOff x="3566159" y="1828800"/>
            <a:chExt cx="2547851" cy="1828800"/>
          </a:xfrm>
        </p:grpSpPr>
        <p:sp>
          <p:nvSpPr>
            <p:cNvPr id="8" name="Rounded Rectangle 7"/>
            <p:cNvSpPr/>
            <p:nvPr/>
          </p:nvSpPr>
          <p:spPr>
            <a:xfrm>
              <a:off x="3566159" y="1828800"/>
              <a:ext cx="2547851" cy="1828800"/>
            </a:xfrm>
            <a:prstGeom prst="roundRect">
              <a:avLst/>
            </a:prstGeom>
            <a:solidFill>
              <a:srgbClr val="162034"/>
            </a:solidFill>
            <a:ln w="15240">
              <a:solidFill>
                <a:srgbClr val="4078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3703320" y="2423160"/>
              <a:ext cx="2254568" cy="164592"/>
            </a:xfrm>
            <a:prstGeom prst="rect">
              <a:avLst/>
            </a:prstGeom>
            <a:solidFill>
              <a:srgbClr val="28C580"/>
            </a:solidFill>
            <a:ln>
              <a:solidFill>
                <a:srgbClr val="28C5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703320" y="1993392"/>
              <a:ext cx="210312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400" b="1">
                  <a:solidFill>
                    <a:srgbClr val="FFFFFF"/>
                  </a:solidFill>
                </a:rPr>
                <a:t>45%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703320" y="2651760"/>
              <a:ext cx="2340033" cy="651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sz="1400" b="1" dirty="0" err="1">
                  <a:latin typeface="Microsoft YaHei"/>
                </a:rPr>
                <a:t>阶段</a:t>
              </a:r>
              <a:r>
                <a:rPr sz="1400" b="1" dirty="0">
                  <a:latin typeface="Microsoft YaHei"/>
                </a:rPr>
                <a:t> 2：</a:t>
              </a:r>
              <a:endParaRPr lang="nb-NO" sz="1400" b="1" dirty="0">
                <a:latin typeface="Microsoft YaHei"/>
              </a:endParaRPr>
            </a:p>
            <a:p>
              <a:pPr>
                <a:spcAft>
                  <a:spcPts val="1000"/>
                </a:spcAft>
              </a:pPr>
              <a:r>
                <a:rPr sz="1400" dirty="0">
                  <a:latin typeface="Microsoft YaHei"/>
                </a:rPr>
                <a:t>AI </a:t>
              </a:r>
              <a:r>
                <a:rPr sz="1400" dirty="0" err="1">
                  <a:latin typeface="Microsoft YaHei"/>
                </a:rPr>
                <a:t>范围界定</a:t>
              </a:r>
              <a:r>
                <a:rPr sz="1400" dirty="0">
                  <a:latin typeface="Microsoft YaHei"/>
                </a:rPr>
                <a:t> + </a:t>
              </a:r>
              <a:r>
                <a:rPr sz="1400" dirty="0" err="1">
                  <a:latin typeface="Microsoft YaHei"/>
                </a:rPr>
                <a:t>能力档案</a:t>
              </a:r>
              <a:endParaRPr sz="1400" dirty="0">
                <a:latin typeface="Microsoft YaHei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250EF0C-2200-5049-9D8C-48F805A5A7F3}"/>
              </a:ext>
            </a:extLst>
          </p:cNvPr>
          <p:cNvGrpSpPr/>
          <p:nvPr/>
        </p:nvGrpSpPr>
        <p:grpSpPr>
          <a:xfrm>
            <a:off x="6199912" y="1828800"/>
            <a:ext cx="2401087" cy="1828800"/>
            <a:chOff x="6309359" y="1828800"/>
            <a:chExt cx="2547851" cy="1828800"/>
          </a:xfrm>
        </p:grpSpPr>
        <p:sp>
          <p:nvSpPr>
            <p:cNvPr id="12" name="Rounded Rectangle 11"/>
            <p:cNvSpPr/>
            <p:nvPr/>
          </p:nvSpPr>
          <p:spPr>
            <a:xfrm>
              <a:off x="6309359" y="1828800"/>
              <a:ext cx="2547851" cy="1828800"/>
            </a:xfrm>
            <a:prstGeom prst="roundRect">
              <a:avLst/>
            </a:prstGeom>
            <a:solidFill>
              <a:srgbClr val="162034"/>
            </a:solidFill>
            <a:ln w="15240">
              <a:solidFill>
                <a:srgbClr val="4078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46520" y="2423160"/>
              <a:ext cx="2254568" cy="164592"/>
            </a:xfrm>
            <a:prstGeom prst="rect">
              <a:avLst/>
            </a:prstGeom>
            <a:solidFill>
              <a:srgbClr val="FFC653"/>
            </a:solidFill>
            <a:ln>
              <a:solidFill>
                <a:srgbClr val="FFC6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46520" y="1993392"/>
              <a:ext cx="210312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400" b="1">
                  <a:solidFill>
                    <a:srgbClr val="FFFFFF"/>
                  </a:solidFill>
                </a:rPr>
                <a:t>70%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46520" y="2651760"/>
              <a:ext cx="1400225" cy="6514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sz="1400" b="1" dirty="0" err="1">
                  <a:latin typeface="Microsoft YaHei"/>
                </a:rPr>
                <a:t>阶段</a:t>
              </a:r>
              <a:r>
                <a:rPr sz="1400" b="1" dirty="0">
                  <a:latin typeface="Microsoft YaHei"/>
                </a:rPr>
                <a:t> 3：</a:t>
              </a:r>
              <a:endParaRPr lang="nb-NO" sz="1400" b="1" dirty="0">
                <a:latin typeface="Microsoft YaHei"/>
              </a:endParaRPr>
            </a:p>
            <a:p>
              <a:pPr>
                <a:spcAft>
                  <a:spcPts val="1000"/>
                </a:spcAft>
              </a:pPr>
              <a:r>
                <a:rPr sz="1400" dirty="0" err="1">
                  <a:latin typeface="Microsoft YaHei"/>
                </a:rPr>
                <a:t>托管支付</a:t>
              </a:r>
              <a:r>
                <a:rPr sz="1400" dirty="0">
                  <a:latin typeface="Microsoft YaHei"/>
                </a:rPr>
                <a:t> + </a:t>
              </a:r>
              <a:r>
                <a:rPr sz="1400" dirty="0" err="1">
                  <a:latin typeface="Microsoft YaHei"/>
                </a:rPr>
                <a:t>信誉</a:t>
              </a:r>
              <a:endParaRPr sz="1400" dirty="0">
                <a:latin typeface="Microsoft YaHei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430EFD-6FE3-47C9-64CA-EE78331D82A7}"/>
              </a:ext>
            </a:extLst>
          </p:cNvPr>
          <p:cNvGrpSpPr/>
          <p:nvPr/>
        </p:nvGrpSpPr>
        <p:grpSpPr>
          <a:xfrm>
            <a:off x="8936183" y="1828800"/>
            <a:ext cx="2401087" cy="1828800"/>
            <a:chOff x="9052559" y="1828800"/>
            <a:chExt cx="2547851" cy="1828800"/>
          </a:xfrm>
        </p:grpSpPr>
        <p:sp>
          <p:nvSpPr>
            <p:cNvPr id="16" name="Rounded Rectangle 15"/>
            <p:cNvSpPr/>
            <p:nvPr/>
          </p:nvSpPr>
          <p:spPr>
            <a:xfrm>
              <a:off x="9052559" y="1828800"/>
              <a:ext cx="2547851" cy="1828800"/>
            </a:xfrm>
            <a:prstGeom prst="roundRect">
              <a:avLst/>
            </a:prstGeom>
            <a:solidFill>
              <a:srgbClr val="162034"/>
            </a:solidFill>
            <a:ln w="15240">
              <a:solidFill>
                <a:srgbClr val="4078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189720" y="2423160"/>
              <a:ext cx="2254568" cy="164592"/>
            </a:xfrm>
            <a:prstGeom prst="rect">
              <a:avLst/>
            </a:prstGeom>
            <a:solidFill>
              <a:srgbClr val="5ED8FF"/>
            </a:solidFill>
            <a:ln>
              <a:solidFill>
                <a:srgbClr val="5ED8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89720" y="1993392"/>
              <a:ext cx="210312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400" b="1">
                  <a:solidFill>
                    <a:srgbClr val="FFFFFF"/>
                  </a:solidFill>
                </a:rPr>
                <a:t>90%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89720" y="2651760"/>
              <a:ext cx="2286002" cy="651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sz="1400" b="1" dirty="0" err="1">
                  <a:latin typeface="Microsoft YaHei"/>
                </a:rPr>
                <a:t>阶段</a:t>
              </a:r>
              <a:r>
                <a:rPr sz="1400" b="1" dirty="0">
                  <a:latin typeface="Microsoft YaHei"/>
                </a:rPr>
                <a:t> 4：</a:t>
              </a:r>
              <a:endParaRPr lang="nb-NO" sz="1400" b="1" dirty="0">
                <a:latin typeface="Microsoft YaHei"/>
              </a:endParaRPr>
            </a:p>
            <a:p>
              <a:pPr>
                <a:spcAft>
                  <a:spcPts val="1000"/>
                </a:spcAft>
              </a:pPr>
              <a:r>
                <a:rPr sz="1400" dirty="0" err="1">
                  <a:latin typeface="Microsoft YaHei"/>
                </a:rPr>
                <a:t>预防机制</a:t>
              </a:r>
              <a:r>
                <a:rPr sz="1400" dirty="0">
                  <a:latin typeface="Microsoft YaHei"/>
                </a:rPr>
                <a:t> + </a:t>
              </a:r>
              <a:r>
                <a:rPr sz="1400" dirty="0" err="1">
                  <a:latin typeface="Microsoft YaHei"/>
                </a:rPr>
                <a:t>弹性团队</a:t>
              </a:r>
              <a:endParaRPr sz="1400" dirty="0">
                <a:latin typeface="Microsoft YaHei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894344" y="4297680"/>
            <a:ext cx="1012708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latin typeface="Microsoft YaHei"/>
              </a:rPr>
              <a:t>第一个验证点是建立可信闭环：经过验证的个人或实体提交受保护的问题，获得可信匹配，并根据证据释放资金。下一层增长闭环则让供应商在事故变成高成本工作之前主动预防</a:t>
            </a:r>
            <a:r>
              <a:rPr dirty="0"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2F913-98DE-0419-1AAB-CB3AD846F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F63980F-A677-BA58-16C0-F10108FA9CDD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D5934F-0A5A-E88D-F619-700BD1D74234}"/>
              </a:ext>
            </a:extLst>
          </p:cNvPr>
          <p:cNvSpPr txBox="1"/>
          <p:nvPr/>
        </p:nvSpPr>
        <p:spPr>
          <a:xfrm>
            <a:off x="640080" y="411480"/>
            <a:ext cx="53142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规模引擎：在不牺牲信任的前提下提升流动性</a:t>
            </a:r>
            <a:endParaRPr sz="2000"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28D450-3324-8FBF-0B1E-1B3D387C047F}"/>
              </a:ext>
            </a:extLst>
          </p:cNvPr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>
                <a:latin typeface="Microsoft YaHei"/>
              </a:rPr>
              <a:t>平台通过主动管理需求与供应之间的不平衡实现增长。</a:t>
            </a:r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90F4DE4F-D3B3-B012-5D69-4477CE512263}"/>
              </a:ext>
            </a:extLst>
          </p:cNvPr>
          <p:cNvSpPr/>
          <p:nvPr/>
        </p:nvSpPr>
        <p:spPr>
          <a:xfrm>
            <a:off x="753110" y="1737360"/>
            <a:ext cx="5120640" cy="315214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C26396-58FD-70C6-1E90-799A368DBD18}"/>
              </a:ext>
            </a:extLst>
          </p:cNvPr>
          <p:cNvSpPr txBox="1"/>
          <p:nvPr/>
        </p:nvSpPr>
        <p:spPr>
          <a:xfrm>
            <a:off x="935990" y="1847088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当需求旺盛时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182D7D-E68D-F311-0E54-04AC498075CD}"/>
              </a:ext>
            </a:extLst>
          </p:cNvPr>
          <p:cNvSpPr txBox="1"/>
          <p:nvPr/>
        </p:nvSpPr>
        <p:spPr>
          <a:xfrm>
            <a:off x="981710" y="2383558"/>
            <a:ext cx="470916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dirty="0" err="1">
                <a:latin typeface="Microsoft YaHei"/>
              </a:rPr>
              <a:t>利用经过验证的供应商档案组建弹性小队</a:t>
            </a:r>
            <a:r>
              <a:rPr sz="16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dirty="0" err="1">
                <a:latin typeface="Microsoft YaHei"/>
              </a:rPr>
              <a:t>加入交付负责人并设定共享验收标准</a:t>
            </a:r>
            <a:r>
              <a:rPr sz="16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dirty="0" err="1">
                <a:latin typeface="Microsoft YaHei"/>
              </a:rPr>
              <a:t>以小队为单位管理托管支付与信誉</a:t>
            </a:r>
            <a:r>
              <a:rPr sz="16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dirty="0" err="1">
                <a:latin typeface="Microsoft YaHei"/>
              </a:rPr>
              <a:t>在不降低证明标准的前提下避免瓶颈</a:t>
            </a:r>
            <a:r>
              <a:rPr dirty="0">
                <a:latin typeface="Microsoft YaHei"/>
              </a:rPr>
              <a:t>。</a:t>
            </a:r>
          </a:p>
        </p:txBody>
      </p:sp>
      <p:sp>
        <p:nvSpPr>
          <p:cNvPr id="25" name="Rounded Rectangle 6">
            <a:extLst>
              <a:ext uri="{FF2B5EF4-FFF2-40B4-BE49-F238E27FC236}">
                <a16:creationId xmlns:a16="http://schemas.microsoft.com/office/drawing/2014/main" id="{B94D3AFA-41DB-E6B2-FF4B-D446E674FFB2}"/>
              </a:ext>
            </a:extLst>
          </p:cNvPr>
          <p:cNvSpPr/>
          <p:nvPr/>
        </p:nvSpPr>
        <p:spPr>
          <a:xfrm>
            <a:off x="6300470" y="1737360"/>
            <a:ext cx="5120640" cy="315214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9288CD-1D8D-0FAF-00E8-ABE27D29D85B}"/>
              </a:ext>
            </a:extLst>
          </p:cNvPr>
          <p:cNvSpPr txBox="1"/>
          <p:nvPr/>
        </p:nvSpPr>
        <p:spPr>
          <a:xfrm>
            <a:off x="6483350" y="1847088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当供应充足时</a:t>
            </a:r>
            <a:endParaRPr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E9DE53-F0FF-3C2B-F543-DBCE0113E1B5}"/>
              </a:ext>
            </a:extLst>
          </p:cNvPr>
          <p:cNvSpPr txBox="1"/>
          <p:nvPr/>
        </p:nvSpPr>
        <p:spPr>
          <a:xfrm>
            <a:off x="6529070" y="2383558"/>
            <a:ext cx="470916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dirty="0" err="1">
                <a:latin typeface="Microsoft YaHei"/>
              </a:rPr>
              <a:t>利用安全的主动触达活动发现公开风险</a:t>
            </a:r>
            <a:r>
              <a:rPr sz="16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dirty="0" err="1">
                <a:latin typeface="Microsoft YaHei"/>
              </a:rPr>
              <a:t>邀请客户参与范围明确的诊断，而不是发送未经请求的恐吓信息</a:t>
            </a:r>
            <a:r>
              <a:rPr sz="16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dirty="0" err="1">
                <a:latin typeface="Microsoft YaHei"/>
              </a:rPr>
              <a:t>通过同一信任层为被接受的预防工作提供资金</a:t>
            </a:r>
            <a:r>
              <a:rPr sz="1600" dirty="0">
                <a:latin typeface="Microsoft YaHei"/>
              </a:rPr>
              <a:t>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dirty="0" err="1">
                <a:latin typeface="Microsoft YaHei"/>
              </a:rPr>
              <a:t>将闲置能力转化为有用且可衡量的技术干预</a:t>
            </a:r>
            <a:r>
              <a:rPr sz="1600" dirty="0">
                <a:latin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826806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72354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 err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</a:rPr>
              <a:t>最终战略论点</a:t>
            </a:r>
            <a:endParaRPr sz="2000"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2458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dirty="0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当 AI </a:t>
            </a:r>
            <a:r>
              <a:rPr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降低不确定性、信任机制降低风险时，产品才真正形成差异化</a:t>
            </a:r>
            <a:r>
              <a:rPr dirty="0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2073" y="1945076"/>
            <a:ext cx="9156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平台不应被定位为自由职业平台，而应被定义为精准技术干预的执行基础设施。最强的组合是：AI</a:t>
            </a:r>
            <a:r>
              <a:rPr dirty="0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 </a:t>
            </a:r>
            <a:r>
              <a:rPr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辅助问题翻译</a:t>
            </a:r>
            <a:r>
              <a:rPr dirty="0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 + </a:t>
            </a:r>
            <a:r>
              <a:rPr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能力验证</a:t>
            </a:r>
            <a:r>
              <a:rPr dirty="0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 + </a:t>
            </a:r>
            <a:r>
              <a:rPr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安全的里程碑交付</a:t>
            </a:r>
            <a:r>
              <a:rPr dirty="0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 + </a:t>
            </a:r>
            <a:r>
              <a:rPr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让质量可见的信誉层</a:t>
            </a:r>
            <a:r>
              <a:rPr dirty="0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1475" y="2955483"/>
            <a:ext cx="87034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如果平台能够尽早赢得信任，就能发展为中小企业技术问题解决的操作系统</a:t>
            </a:r>
            <a:r>
              <a:rPr dirty="0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。</a:t>
            </a:r>
            <a:endParaRPr lang="nb-NO" dirty="0">
              <a:solidFill>
                <a:schemeClr val="accent5">
                  <a:lumMod val="40000"/>
                  <a:lumOff val="60000"/>
                </a:schemeClr>
              </a:solidFill>
              <a:latin typeface="Microsoft YaHei"/>
            </a:endParaRPr>
          </a:p>
          <a:p>
            <a:r>
              <a:rPr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信任不是匹配之后添加的徽章，而是让预防、匹配、交付与规模化成为可能的系统</a:t>
            </a:r>
            <a:r>
              <a:rPr dirty="0">
                <a:solidFill>
                  <a:schemeClr val="accent5">
                    <a:lumMod val="40000"/>
                    <a:lumOff val="60000"/>
                  </a:schemeClr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Metadata/LabelInfo.xml><?xml version="1.0" encoding="utf-8"?>
<clbl:labelList xmlns:clbl="http://schemas.microsoft.com/office/2020/mipLabelMetadata">
  <clbl:label id="{57c84fa2-b2bb-403e-b8d4-2e71c559e792}" enabled="1" method="Privileged" siteId="{adf10e2b-b6e9-41d6-be2f-c12bb566019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508</Words>
  <Application>Microsoft Office PowerPoint</Application>
  <PresentationFormat>Widescreen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Microsoft YaHei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Liu, Yi Edward</cp:lastModifiedBy>
  <cp:revision>35</cp:revision>
  <dcterms:created xsi:type="dcterms:W3CDTF">2013-01-27T09:14:16Z</dcterms:created>
  <dcterms:modified xsi:type="dcterms:W3CDTF">2026-09-10T12:06:05Z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nfoFinished">
    <vt:lpwstr>True</vt:lpwstr>
  </property>
</Properties>
</file>