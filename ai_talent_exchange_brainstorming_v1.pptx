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8E8E4-040A-4875-A04B-8F8295D5408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17AB5-3A82-43F6-8F8C-EA342F7E1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30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639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30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1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47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60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24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380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626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50AB-80CE-4B63-A5BB-49C53A833D9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118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492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B3E6-7E69-87AC-851F-2D66B44C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5FD1E-BD35-97F1-4883-71FC8C6CD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28860-9234-DD6C-98C2-3BF48F54C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42A55-D36A-EDBC-F3BF-9A452033E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50AB-80CE-4B63-A5BB-49C53A833D9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461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17AB5-3A82-43F6-8F8C-EA342F7E1B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91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658368"/>
            <a:ext cx="22672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AI MissionHub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6019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AI-powered targeted intervention hub for technical solvers and small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108960"/>
            <a:ext cx="5852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A0B0C4"/>
                </a:solidFill>
              </a:rPr>
              <a:t>A platform that converts vague business pain into structured technical milestones, matches it to verified experts, and protects execution with escrow and AI-assisted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2103120" cy="674370"/>
          </a:xfrm>
          <a:prstGeom prst="roundRect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167" y="4443984"/>
            <a:ext cx="17443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I Need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297680"/>
            <a:ext cx="2286000" cy="674370"/>
          </a:xfrm>
          <a:prstGeom prst="roundRect">
            <a:avLst/>
          </a:prstGeom>
          <a:solidFill>
            <a:srgbClr val="14263A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2798" y="4443984"/>
            <a:ext cx="19668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28C580"/>
                </a:solidFill>
              </a:rPr>
              <a:t>I Provide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097280"/>
            <a:ext cx="4023360" cy="4389120"/>
          </a:xfrm>
          <a:prstGeom prst="rect">
            <a:avLst/>
          </a:prstGeom>
          <a:solidFill>
            <a:srgbClr val="121C2C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0" y="2377440"/>
            <a:ext cx="1024128" cy="1024128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3383280"/>
            <a:ext cx="585216" cy="585216"/>
          </a:xfrm>
          <a:prstGeom prst="ellipse">
            <a:avLst/>
          </a:prstGeom>
          <a:solidFill>
            <a:srgbClr val="28C580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92640" y="3383280"/>
            <a:ext cx="585216" cy="585216"/>
          </a:xfrm>
          <a:prstGeom prst="ellipse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69680" y="4663440"/>
            <a:ext cx="914400" cy="914400"/>
          </a:xfrm>
          <a:prstGeom prst="ellipse">
            <a:avLst/>
          </a:prstGeom>
          <a:solidFill>
            <a:srgbClr val="FFC653"/>
          </a:solidFill>
          <a:ln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2194560"/>
            <a:ext cx="640080" cy="640080"/>
          </a:xfrm>
          <a:prstGeom prst="ellipse">
            <a:avLst/>
          </a:prstGeom>
          <a:solidFill>
            <a:srgbClr val="28C580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81360" y="4114800"/>
            <a:ext cx="640080" cy="640080"/>
          </a:xfrm>
          <a:prstGeom prst="ellipse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8240" y="2286000"/>
            <a:ext cx="365760" cy="41148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2926080"/>
            <a:ext cx="320040" cy="32004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154680"/>
            <a:ext cx="411480" cy="201168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3154680"/>
            <a:ext cx="457200" cy="201168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4389120"/>
            <a:ext cx="411480" cy="274320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this is not a generic freelance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The platform is positioned as a targeted technical intervention hub.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34747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2756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Market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36120"/>
            <a:ext cx="318516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Small businesses need urgent, specialized fixes, not generic hiring.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Technical suppliers want structured, higher-trust work, not noisy gig competition.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The current market has too much volume and too little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19"/>
            <a:ext cx="34747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755648"/>
            <a:ext cx="17024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Platform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236120"/>
            <a:ext cx="318516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Convert vague pain into scoped milestones with AI translation.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Verify supplier capability using public signals and project evidence.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Protect execution with trust and escrow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19"/>
            <a:ext cx="3017520" cy="2899411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755648"/>
            <a:ext cx="1529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Strategic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36120"/>
            <a:ext cx="270256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Specialized revenue engine, not a commodity marketplace.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Higher-margin service layer via elastic teams and curated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Business model and revenue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Monetization must come from trust, matching quality, and workflow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22819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Demand-side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60270"/>
            <a:ext cx="29489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Project success fee on matched interventions.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Premium AI scoping and technical translation plans.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Escrow facilitation and advisory uplift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21168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Supply-side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60270"/>
            <a:ext cx="29489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Proof-of-capability verification and credibility memberships.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Subscription for visibility and inbound projects.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Revenue share on managed squad / elastic team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97942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55648"/>
            <a:ext cx="1877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Platform leverage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60270"/>
            <a:ext cx="294894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AI outbound demand generation for underserved SMB niches.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Umbrella agency model when demand exceeds supplier capacity.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Data network effects from repeated problem-to-solution loops.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Two-sided journey: one trust layer, two tailored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Demanders need clarity and privacy; suppliers need proof, signal, and qualified opportunity.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32346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24925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Demand / business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3268"/>
            <a:ext cx="485013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Describe business pain in plain language.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AI Technical Translator clarifies scope and anonymizes sensitive details.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Review matched suppliers, milestones, budget, and delivery risk.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Fund smart escrow and release payment against verifiable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03520" cy="32346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64208"/>
            <a:ext cx="20864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Supply / solver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3268"/>
            <a:ext cx="485013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Connect public proof: CV, LinkedIn, GitHub, YouTube, or project pages.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AI generates a capability profile with mapped stack and validated signals.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Receive structured briefs and apply to high-fit interventions.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Call out public vulnerabilities and earn funded preemptive bounties.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3974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A0B0C4"/>
                </a:solidFill>
              </a:rPr>
              <a:t>The shared trust layer connects both journeys: privacy-safe briefs, verified capability, milestone evidence, escrow, and multidimensional reputation.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the product actually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It is not a marketplace; it is a trusted technical execution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56616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21262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For small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29790"/>
            <a:ext cx="31089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No full-time hire needed.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Faster issue diagnosis and scoping.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Protected project execution with escrow.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Better confidence in technical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56616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21187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For technical solvers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29790"/>
            <a:ext cx="31089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Verified capability instead of generic profile noise.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Higher-quality project matches.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Faster access to budgeted, structured work.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A path to larger recurring revenue via squads.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017520" cy="292989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664208"/>
            <a:ext cx="18481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Platform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29790"/>
            <a:ext cx="246888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Outcome-based technical intervention.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Trust and AI working together.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Scalable specialized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Logic check: where the concept is strong and where it needs tightening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The idea is compelling, but several strategic choices need sharper positioning.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3832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5669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What is 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63140"/>
            <a:ext cx="472059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AI-driven scoping and translation reduce ambiguity for non-technical buyers.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Proof-of-capability improves trust and supplier quality relative to a standard gig board.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Escrow and reputation systems create real operating confidence for both parties.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Elastic teams and preemptive pitching create a strong scale plan beyond simple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33832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55648"/>
            <a:ext cx="2680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What needs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263140"/>
            <a:ext cx="490941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Define the first vertical sharply: e.g., web performance, e-commerce reliability, or security remediation.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Avoid over-emphasizing general AI without proving real user value in the first 90 days.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Design the trust deposit as a quality filter, not simply a fee.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Prevent false positives in proof-of-capability generation by mixing public-signal analysis with verified artifacts.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UX foundation: role-based web platform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The landing page routes users into distinct demand and supplier workspaces.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3749039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24536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Role-based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61210"/>
            <a:ext cx="462153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Hero: clear positioning as a targeted intervention hub.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Demand page: AI brief translation, privacy review, matching, and escrow.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Supplier page: public-proof ingestion, capability profile, opportunities, and bounties.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Shared navigation keeps the marketplace legible without collapsing both personas.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Trust surfaces remain visible at every conversion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3749039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755648"/>
            <a:ext cx="11025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Web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731960" y="2545080"/>
            <a:ext cx="5629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211100" y="2545080"/>
            <a:ext cx="7136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36220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9766220" y="2545080"/>
            <a:ext cx="7123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AI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665436" y="3733800"/>
            <a:ext cx="6960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05324" y="3733800"/>
            <a:ext cx="5252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550920"/>
            <a:ext cx="1325880" cy="868680"/>
          </a:xfrm>
          <a:prstGeom prst="roundRect">
            <a:avLst/>
          </a:prstGeom>
          <a:solidFill>
            <a:srgbClr val="162034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9533914" y="3733800"/>
            <a:ext cx="1176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Match + escrow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Web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Separate role experiences sit on top of shared AI, trust, and liquidity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7944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Role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114550"/>
            <a:ext cx="295929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Demand workspace for problem intake and protected briefs.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Supplier workspace for capability and opportunity discovery.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React + Tailwind + Framer Motion for responsive product UI.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Shared design language with role-specific information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25478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Shared platform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14550"/>
            <a:ext cx="3054754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Problem and capability indexing for matching.</a:t>
            </a:r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1E8F0"/>
                </a:solidFill>
              </a:rPr>
              <a:t>Vipps identity and ENK / AS entity verification status</a:t>
            </a:r>
            <a:r>
              <a:rPr sz="1600" dirty="0">
                <a:solidFill>
                  <a:srgbClr val="E1E8F0"/>
                </a:solidFill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Milestone escrow lifecycle management.</a:t>
            </a:r>
          </a:p>
          <a:p>
            <a:pPr algn="l">
              <a:spcAft>
                <a:spcPts val="1000"/>
              </a:spcAft>
            </a:pPr>
            <a:r>
              <a:rPr lang="en-US" sz="1600" dirty="0">
                <a:solidFill>
                  <a:srgbClr val="E1E8F0"/>
                </a:solidFill>
              </a:rPr>
              <a:t>Evidence, reputation, outreach review, and liquidity orchestration.</a:t>
            </a:r>
            <a:r>
              <a:rPr sz="1600" dirty="0">
                <a:solidFill>
                  <a:srgbClr val="E1E8F0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323088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18819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AI + security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114550"/>
            <a:ext cx="295929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Agentic scoping, anonymization, and clarification.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Public-signal parsing into capability profiles.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Encrypted proprietary data and controlled disclosure.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Predictive vulnerability detection </a:t>
            </a:r>
            <a:r>
              <a:rPr lang="nb-NO" sz="1600" dirty="0">
                <a:solidFill>
                  <a:srgbClr val="E1E8F0"/>
                </a:solidFill>
              </a:rPr>
              <a:t>with rate-limited safe disclosure</a:t>
            </a:r>
            <a:r>
              <a:rPr sz="1600" dirty="0">
                <a:solidFill>
                  <a:srgbClr val="E1E8F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6D6B0BB-7FC9-D5EA-93D9-C56D04DF0771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Trust and prevention: the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Astera reduces risk before matching, during delivery, and before a public issue becomes an avoidable incident.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8949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1. Verify the 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0750"/>
            <a:ext cx="31851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Individual: real-name verification through Vipps.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ENK: verify proprietor and organization number.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AS: verify authorized person and company identity.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Expose verification status, not unnecessary identity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18730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2. Prove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90750"/>
            <a:ext cx="31851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Define acceptance evidence before funds are locked.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Show milestone state: locked, in review, or released.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Score speed, reliability, and quality separately.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Keep both sides informed at every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322453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55648"/>
            <a:ext cx="23530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3. Prevent the incident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90750"/>
            <a:ext cx="318516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Supplier uses public signals to flag a possible client risk.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AI drafts a bounded, respectful, non-alarmist message.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Astera reviews and rate-limits outreach.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Accepted signal becomes a funded diagnostic or bounty.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MVP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Start with role-based trust workflows, then expand into predictive liquidity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59" y="1828800"/>
            <a:ext cx="2547851" cy="182880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423160"/>
            <a:ext cx="2254568" cy="164592"/>
          </a:xfrm>
          <a:prstGeom prst="rect">
            <a:avLst/>
          </a:prstGeom>
          <a:solidFill>
            <a:srgbClr val="4078FF"/>
          </a:solidFill>
          <a:ln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3089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A0B0C4"/>
                </a:solidFill>
              </a:rPr>
              <a:t>Phase 1: demand + supplier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9" y="1828800"/>
            <a:ext cx="2547851" cy="182880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03320" y="2423160"/>
            <a:ext cx="2254568" cy="164592"/>
          </a:xfrm>
          <a:prstGeom prst="rect">
            <a:avLst/>
          </a:prstGeom>
          <a:solidFill>
            <a:srgbClr val="28C580"/>
          </a:solidFill>
          <a:ln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993392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51760"/>
            <a:ext cx="20002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B0C4"/>
                </a:solidFill>
              </a:rPr>
              <a:t>Phase 2: AI scoping +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28800"/>
            <a:ext cx="2547851" cy="182880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2423160"/>
            <a:ext cx="2254568" cy="164592"/>
          </a:xfrm>
          <a:prstGeom prst="rect">
            <a:avLst/>
          </a:prstGeom>
          <a:solidFill>
            <a:srgbClr val="FFC653"/>
          </a:solidFill>
          <a:ln>
            <a:solidFill>
              <a:srgbClr val="FF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19988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B0C4"/>
                </a:solidFill>
              </a:rPr>
              <a:t>Phase 3: escrow + reputation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828800"/>
            <a:ext cx="2547851" cy="182880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2423160"/>
            <a:ext cx="2254568" cy="164592"/>
          </a:xfrm>
          <a:prstGeom prst="rect">
            <a:avLst/>
          </a:prstGeom>
          <a:solidFill>
            <a:srgbClr val="5ED8FF"/>
          </a:solidFill>
          <a:ln>
            <a:solidFill>
              <a:srgbClr val="5E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1993392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51760"/>
            <a:ext cx="23909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A0B0C4"/>
                </a:solidFill>
              </a:rPr>
              <a:t>Phase 4: </a:t>
            </a:r>
            <a:r>
              <a:rPr lang="nb-NO" sz="1200" dirty="0">
                <a:solidFill>
                  <a:srgbClr val="A0B0C4"/>
                </a:solidFill>
              </a:rPr>
              <a:t>prevention</a:t>
            </a:r>
            <a:r>
              <a:rPr sz="1200" dirty="0">
                <a:solidFill>
                  <a:srgbClr val="A0B0C4"/>
                </a:solidFill>
              </a:rPr>
              <a:t> + elastic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344" y="4297680"/>
            <a:ext cx="10127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0B0C4"/>
                </a:solidFill>
              </a:rPr>
              <a:t>The first proof point is a trusted loop: a verified person or entity submits a protected problem, receives a credible match, and releases funds against evidence. The next compounding loop lets suppliers prevent incidents before they become expensive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F913-98DE-0419-1AAB-CB3AD846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F63980F-A677-BA58-16C0-F10108FA9CDD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5934F-0A5A-E88D-F619-700BD1D74234}"/>
              </a:ext>
            </a:extLst>
          </p:cNvPr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Scale engine: liquidity without losing trust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8D450-3324-8FBF-0B1E-1B3D387C047F}"/>
              </a:ext>
            </a:extLst>
          </p:cNvPr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The marketplace grows by actively managing imbalance between demand and supply.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90F4DE4F-D3B3-B012-5D69-4477CE512263}"/>
              </a:ext>
            </a:extLst>
          </p:cNvPr>
          <p:cNvSpPr/>
          <p:nvPr/>
        </p:nvSpPr>
        <p:spPr>
          <a:xfrm>
            <a:off x="753110" y="1737360"/>
            <a:ext cx="5120640" cy="315214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4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C26396-58FD-70C6-1E90-799A368DBD18}"/>
              </a:ext>
            </a:extLst>
          </p:cNvPr>
          <p:cNvSpPr txBox="1"/>
          <p:nvPr/>
        </p:nvSpPr>
        <p:spPr>
          <a:xfrm>
            <a:off x="935990" y="1847088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When demand is 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2D7D-E68D-F311-0E54-04AC498075CD}"/>
              </a:ext>
            </a:extLst>
          </p:cNvPr>
          <p:cNvSpPr txBox="1"/>
          <p:nvPr/>
        </p:nvSpPr>
        <p:spPr>
          <a:xfrm>
            <a:off x="981710" y="2371090"/>
            <a:ext cx="47091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Use verified supplier profiles to assemble elastic squads.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Add a delivery lead and shared acceptance criteria.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Keep escrow and reputation at the squad level.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E1E8F0"/>
                </a:solidFill>
              </a:rPr>
              <a:t>Prevent bottlenecks without lowering proof standards.</a:t>
            </a: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B94D3AFA-41DB-E6B2-FF4B-D446E674FFB2}"/>
              </a:ext>
            </a:extLst>
          </p:cNvPr>
          <p:cNvSpPr/>
          <p:nvPr/>
        </p:nvSpPr>
        <p:spPr>
          <a:xfrm>
            <a:off x="6300470" y="1737360"/>
            <a:ext cx="5120640" cy="3152140"/>
          </a:xfrm>
          <a:prstGeom prst="roundRect">
            <a:avLst/>
          </a:prstGeom>
          <a:solidFill>
            <a:srgbClr val="162034"/>
          </a:solidFill>
          <a:ln w="15240">
            <a:solidFill>
              <a:srgbClr val="28C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9288CD-1D8D-0FAF-00E8-ABE27D29D85B}"/>
              </a:ext>
            </a:extLst>
          </p:cNvPr>
          <p:cNvSpPr txBox="1"/>
          <p:nvPr/>
        </p:nvSpPr>
        <p:spPr>
          <a:xfrm>
            <a:off x="6483350" y="1847088"/>
            <a:ext cx="20922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C000"/>
                </a:solidFill>
              </a:rPr>
              <a:t>When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C000"/>
                </a:solidFill>
              </a:rPr>
              <a:t>supply is high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E9DE53-F0FF-3C2B-F543-DBCE0113E1B5}"/>
              </a:ext>
            </a:extLst>
          </p:cNvPr>
          <p:cNvSpPr txBox="1"/>
          <p:nvPr/>
        </p:nvSpPr>
        <p:spPr>
          <a:xfrm>
            <a:off x="6529070" y="2371090"/>
            <a:ext cx="47091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Use safe outbound campaigns to surface public risks.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Invite clients into bounded diagnostics, not unsolicited fear.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Fund accepted prevention work through the same trust layer.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E1E8F0"/>
                </a:solidFill>
              </a:rPr>
              <a:t>Turn idle capability into useful, measurable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82680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Final strategic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0B0C4"/>
                </a:solidFill>
              </a:rPr>
              <a:t>The product becomes differentiated when AI reduces uncertainty and trust mechanisms reduce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platform should not be positioned as a freelance board; it should be framed as an execution infrastructure for targeted technical interventions. The most powerful combination is AI-assisted issue translation + capability verification + secure milestone-based delivery + a reputation layer that makes quality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4572000"/>
            <a:ext cx="80352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8C580"/>
                </a:solidFill>
              </a:rPr>
              <a:t>If the platform can win trust early, it can scale into the operating system for SMB technical problem solving.</a:t>
            </a:r>
            <a:endParaRPr lang="nb-NO" sz="1800" b="1" dirty="0">
              <a:solidFill>
                <a:srgbClr val="28C580"/>
              </a:solidFill>
            </a:endParaRPr>
          </a:p>
          <a:p>
            <a:pPr algn="ctr"/>
            <a:r>
              <a:rPr lang="en-US" b="1" dirty="0">
                <a:solidFill>
                  <a:srgbClr val="28C580"/>
                </a:solidFill>
              </a:rPr>
              <a:t>Trust is not a badge added after matching. It is the system that makes prevention, matching, delivery, and scale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c84fa2-b2bb-403e-b8d4-2e71c559e792}" enabled="1" method="Privilege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1313</Words>
  <Application>Microsoft Office PowerPoint</Application>
  <PresentationFormat>Widescreen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Liu, Yi Edward</cp:lastModifiedBy>
  <cp:revision>20</cp:revision>
  <dcterms:created xsi:type="dcterms:W3CDTF">2013-01-27T09:14:16Z</dcterms:created>
  <dcterms:modified xsi:type="dcterms:W3CDTF">2026-09-10T12:06:34Z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